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96" y="3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83E576-BBE7-4383-9E9A-EF2208A92D19}" type="datetimeFigureOut">
              <a:rPr lang="en-SG" smtClean="0"/>
              <a:t>29/9/2026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D4EDE9-5F52-4B17-9427-3EF7E037BC0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6358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4EDE9-5F52-4B17-9427-3EF7E037BC0D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08241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D26A"/>
                </a:solidFill>
                <a:latin typeface="Calibri"/>
              </a:defRPr>
            </a:pPr>
            <a:r>
              <a:t>MarketSense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A Neuro-Symbolic Intelligent Reasoning Simulator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for Macroeconomic Shocks &amp; Portfolio Adaptability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CD535"/>
                </a:solidFill>
                <a:latin typeface="Calibri"/>
              </a:defRPr>
            </a:pPr>
            <a:r>
              <a:t>"Explainable investment training through causal reasoning — not black-box prediction"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754880"/>
            <a:ext cx="8503920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rPr dirty="0"/>
              <a:t>NUS-ISS Intelligent Reasoning Systems (IRS) Practice Module</a:t>
            </a:r>
          </a:p>
          <a:p>
            <a:pPr algn="ctr">
              <a:spcBef>
                <a:spcPts val="1600"/>
              </a:spcBef>
              <a:spcAft>
                <a:spcPts val="2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rPr dirty="0"/>
              <a:t>Group:</a:t>
            </a:r>
            <a:r>
              <a:rPr lang="en-SG" dirty="0"/>
              <a:t> 26</a:t>
            </a:r>
            <a:r>
              <a:rPr dirty="0"/>
              <a:t> | </a:t>
            </a:r>
            <a:r>
              <a:rPr lang="en-SG" dirty="0"/>
              <a:t>Gupta Swaraj </a:t>
            </a:r>
            <a:r>
              <a:rPr lang="en-SG" sz="1400" dirty="0">
                <a:solidFill>
                  <a:srgbClr val="999999"/>
                </a:solidFill>
                <a:latin typeface="Calibri"/>
              </a:rPr>
              <a:t>A0357457N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4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95F"/>
                </a:solidFill>
                <a:latin typeface="Calibri"/>
              </a:defRPr>
            </a:pPr>
            <a: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Does This Project Exist?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~1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520440" cy="457200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FF4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3154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95F"/>
                </a:solidFill>
                <a:latin typeface="Calibri"/>
              </a:defRPr>
            </a:pPr>
            <a:r>
              <a:t>Behavioral Crisis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80%+ retail investors suffer severe drawdowns during macro crises.</a:t>
            </a:r>
            <a:br/>
            <a:br/>
            <a:r>
              <a:t>Root cause: behavioral bias and opaque market mechanics that learners never get to safely experience.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737360"/>
            <a:ext cx="3520440" cy="457200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00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59" y="1874519"/>
            <a:ext cx="3154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A3FF"/>
                </a:solidFill>
                <a:latin typeface="Calibri"/>
              </a:defRPr>
            </a:pPr>
            <a:r>
              <a:t>Broken Tool Landscape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Black-box models — no explainability, no trust.</a:t>
            </a:r>
            <a:br/>
            <a:r>
              <a:t>Static textbooks — cannot adapt to novel events.</a:t>
            </a:r>
            <a:br/>
            <a:r>
              <a:t>Trading apps — gamify churning, zero friction awareness.</a:t>
            </a:r>
            <a:br/>
            <a:br/>
            <a:r>
              <a:t>Two broken extremes. No middle ground.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737360"/>
            <a:ext cx="3520440" cy="457200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00D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9" y="1874519"/>
            <a:ext cx="3154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6A"/>
                </a:solidFill>
                <a:latin typeface="Calibri"/>
              </a:defRPr>
            </a:pPr>
            <a:r>
              <a:t>The Opportunity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No existing tool combines:</a:t>
            </a:r>
            <a:br/>
            <a:br/>
            <a:r>
              <a:t>•  Realistic market dynamics</a:t>
            </a:r>
            <a:br/>
            <a:r>
              <a:t>•  Transparent causal reasoning</a:t>
            </a:r>
            <a:br/>
            <a:r>
              <a:t>•  Literature-grounded mentorship</a:t>
            </a:r>
            <a:br/>
            <a:r>
              <a:t>•  Real-world friction accounting</a:t>
            </a:r>
            <a:br/>
            <a:br/>
            <a:r>
              <a:t>in a safe training environment.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FF"/>
                </a:solidFill>
                <a:latin typeface="Calibri"/>
              </a:defRPr>
            </a:pPr>
            <a:r>
              <a:t>SOLUTION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~1.5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9144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D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6A"/>
                </a:solidFill>
                <a:latin typeface="Calibri"/>
              </a:defRPr>
            </a:pPr>
            <a:r>
              <a:t>PRESENTATION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Interactive Simulation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Portfolio view  |  Event console  |  Benchmark charts  |  Trade execution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10698480" cy="9144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3FF"/>
                </a:solidFill>
                <a:latin typeface="Calibri"/>
              </a:defRPr>
            </a:pPr>
            <a:r>
              <a:t>SIMULATION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1752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Deterministic Pricing  |  Portfolio &amp; Trade Manager  |  Benchmark Evaluator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dirty="0"/>
              <a:t>Sector sensitivity, leverage, cap-size modeling  |  NAV, dividends, capital gains  |  Alpha measurement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10698480" cy="9144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886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CD535"/>
                </a:solidFill>
                <a:latin typeface="Calibri"/>
              </a:defRPr>
            </a:pPr>
            <a:r>
              <a:t>INTELLIGENT REASONING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1480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Causal Knowledge Graph  |  RAG-Augmented LLM Advisor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Shock propagation paths  |  Literature-grounded Socratic mentorship &amp; counterfactual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37760"/>
            <a:ext cx="10698480" cy="9144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99"/>
                </a:solidFill>
                <a:latin typeface="Calibri"/>
              </a:defRPr>
            </a:pPr>
            <a:r>
              <a:t>KNOWLEDGE &amp; DATA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1208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Asset Universe  |  Macro Event Library  |  Investment Literature Corpus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8640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24 instruments  |  22 curated scenarios  |  Cited investor wisdom &amp; crisis precedents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943600" y="2606040"/>
            <a:ext cx="320040" cy="18288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Down Arrow 22"/>
          <p:cNvSpPr/>
          <p:nvPr/>
        </p:nvSpPr>
        <p:spPr>
          <a:xfrm>
            <a:off x="5943600" y="3703320"/>
            <a:ext cx="320040" cy="18288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wn Arrow 23"/>
          <p:cNvSpPr/>
          <p:nvPr/>
        </p:nvSpPr>
        <p:spPr>
          <a:xfrm>
            <a:off x="5943600" y="4800600"/>
            <a:ext cx="320040" cy="18288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1520" y="6035040"/>
            <a:ext cx="10698480" cy="54864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606247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CD535"/>
                </a:solidFill>
                <a:latin typeface="Calibri"/>
              </a:defRPr>
            </a:pPr>
            <a:r>
              <a:t>Key Design Principle:  The LLM never generates prices. Mathematics handles numbers; AI handles explanation.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6A"/>
                </a:solidFill>
                <a:latin typeface="Calibri"/>
              </a:defRPr>
            </a:pPr>
            <a:r>
              <a:t>DATA COLLECTION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Knowledge Sources &amp; Preparation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~1.5 min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Data Source</a:t>
                      </a:r>
                    </a:p>
                  </a:txBody>
                  <a:tcPr marL="101600" marR="101600" marT="50800" marB="508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Format</a:t>
                      </a:r>
                    </a:p>
                  </a:txBody>
                  <a:tcPr marL="101600" marR="101600" marT="50800" marB="508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Volume</a:t>
                      </a:r>
                    </a:p>
                  </a:txBody>
                  <a:tcPr marL="101600" marR="101600" marT="50800" marB="508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Purpose &amp; Content</a:t>
                      </a:r>
                    </a:p>
                  </a:txBody>
                  <a:tcPr marL="101600" marR="101600" marT="50800" marB="50800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Asset Instrument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Definitions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Structured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JSON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24 assets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× 6 params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Pricing engine inputs: beta, </a:t>
                      </a:r>
                      <a:r>
                        <a:rPr dirty="0" err="1"/>
                        <a:t>debt_ratio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cash_resilience</a:t>
                      </a:r>
                      <a:r>
                        <a:rPr dirty="0"/>
                        <a:t>,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 err="1"/>
                        <a:t>dividend_yield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inflation_sensitivity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interest_rate_sensitivity</a:t>
                      </a:r>
                      <a:endParaRPr dirty="0"/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Macro Event Library</a:t>
                      </a:r>
                    </a:p>
                  </a:txBody>
                  <a:tcPr marL="101600" marR="101600" marT="50800" marB="508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Structured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JSON</a:t>
                      </a:r>
                    </a:p>
                  </a:txBody>
                  <a:tcPr marL="101600" marR="101600" marT="50800" marB="508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 curated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scenarios</a:t>
                      </a:r>
                    </a:p>
                  </a:txBody>
                  <a:tcPr marL="101600" marR="101600" marT="50800" marB="508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Sector &amp; asset impact scores, event type (seasonal/sudden),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historical precedents, investor wisdom citations</a:t>
                      </a:r>
                    </a:p>
                  </a:txBody>
                  <a:tcPr marL="101600" marR="101600" marT="50800" marB="508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Investment Literature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Corpus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Unstructured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Text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~30 curated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excerpts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RAG knowledge base: Graham, Dalio, Marks, Lynch, Bogle, Taleb —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concept-based semantic chunks tagged by market cycle &amp; asset class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Historical Crisis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Case Studies</a:t>
                      </a:r>
                    </a:p>
                  </a:txBody>
                  <a:tcPr marL="101600" marR="101600" marT="50800" marB="508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Semi-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structured</a:t>
                      </a:r>
                    </a:p>
                  </a:txBody>
                  <a:tcPr marL="101600" marR="101600" marT="50800" marB="508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~10 cases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(1973–2023)</a:t>
                      </a:r>
                    </a:p>
                  </a:txBody>
                  <a:tcPr marL="101600" marR="101600" marT="50800" marB="508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Contextual grounding: 1973 Oil, 1997 Asia, 2000 Tech Bubble,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2008 GFC, 2020 COVID, 2022 Rate Cycle</a:t>
                      </a:r>
                    </a:p>
                  </a:txBody>
                  <a:tcPr marL="101600" marR="101600" marT="50800" marB="508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Macro-Financial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Relationships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Graph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Schema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~40 nodes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~80 edges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Directed weighted causal knowledge graph: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entities (rates, inflation, sectors) → propagation relationships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937760"/>
            <a:ext cx="11064240" cy="15544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D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6A"/>
                </a:solidFill>
                <a:latin typeface="Calibri"/>
              </a:defRPr>
            </a:pPr>
            <a:r>
              <a:t>PREPARATION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CD535"/>
                </a:solidFill>
                <a:latin typeface="Calibri"/>
              </a:defRPr>
            </a:pPr>
            <a:r>
              <a:t>1. Semantic Chunking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Literature decomposed into</a:t>
            </a:r>
            <a:br/>
            <a:r>
              <a:t>concept-based axioms —</a:t>
            </a:r>
            <a:br/>
            <a:r>
              <a:t>not arbitrary page blocks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53035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CD535"/>
                </a:solidFill>
                <a:latin typeface="Calibri"/>
              </a:defRPr>
            </a:pPr>
            <a:r>
              <a:t>2. Metadata Tagging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Each chunk tagged by market</a:t>
            </a:r>
            <a:br/>
            <a:r>
              <a:t>cycle, asset class sensitivity,</a:t>
            </a:r>
            <a:br/>
            <a:r>
              <a:t>and economic regime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53035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CD535"/>
                </a:solidFill>
                <a:latin typeface="Calibri"/>
              </a:defRPr>
            </a:pPr>
            <a:r>
              <a:rPr dirty="0"/>
              <a:t>3. Validation &amp; QA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rPr dirty="0"/>
              <a:t>All 22 events verified for impact</a:t>
            </a:r>
            <a:br>
              <a:rPr dirty="0"/>
            </a:br>
            <a:r>
              <a:rPr dirty="0"/>
              <a:t>completeness, precedent accuracy,</a:t>
            </a:r>
            <a:br>
              <a:rPr dirty="0"/>
            </a:br>
            <a:r>
              <a:rPr dirty="0"/>
              <a:t>and wisdom quote attribution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FF"/>
                </a:solidFill>
                <a:latin typeface="Calibri"/>
              </a:defRPr>
            </a:pPr>
            <a: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Asset Universe — 24 Instruments Across 5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A3FF"/>
                </a:solidFill>
                <a:latin typeface="Calibri"/>
              </a:defRPr>
            </a:pPr>
            <a:r>
              <a:t>18 Equity Indices (6 Sectors × 3 Cap Sizes)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20240"/>
          <a:ext cx="685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Sector</a:t>
                      </a:r>
                    </a:p>
                  </a:txBody>
                  <a:tcPr marL="101600" marR="101600" marT="63500" marB="635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Large Cap</a:t>
                      </a:r>
                    </a:p>
                  </a:txBody>
                  <a:tcPr marL="101600" marR="101600" marT="63500" marB="635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Mid Cap</a:t>
                      </a:r>
                    </a:p>
                  </a:txBody>
                  <a:tcPr marL="101600" marR="101600" marT="63500" marB="635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Small Cap</a:t>
                      </a:r>
                    </a:p>
                  </a:txBody>
                  <a:tcPr marL="101600" marR="101600" marT="63500" marB="63500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Information Technology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 Giants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Software &amp; Cloud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&amp; Hardware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FMCG &amp; Consumer Staples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Blue Chip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Packaged Goods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Organic &amp; Agri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Banking &amp; Financial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Tier-1 Banks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Regional Banks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FinTech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Healthcare &amp; Pharma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Global Pharma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Hospital Networks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Clinical Biotech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Energy &amp; Utilities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Integrated Oil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Renewables &amp; Grid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CleanTech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Real Estate &amp; Infra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Commercial REITs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Residential Dev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Infrastructure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46720" y="15544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CD535"/>
                </a:solidFill>
                <a:latin typeface="Calibri"/>
              </a:defRPr>
            </a:pPr>
            <a:r>
              <a:t>6 Non-Equity Assets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046720" y="1920240"/>
          <a:ext cx="3657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Asset</a:t>
                      </a:r>
                    </a:p>
                  </a:txBody>
                  <a:tcPr marL="101600" marR="101600" marT="63500" marB="635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Nature</a:t>
                      </a:r>
                    </a:p>
                  </a:txBody>
                  <a:tcPr marL="101600" marR="101600" marT="63500" marB="63500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Physical Gold Trust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Safe Haven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Silver &amp; Industrial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Hybrid Metal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1-3Y Sovereign T-Bills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Cash Equivalent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10-20Y Gov Bonds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Deflation Hedge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SGD Money Market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Risk-Free Cash</a:t>
                      </a:r>
                    </a:p>
                  </a:txBody>
                  <a:tcPr marL="101600" marR="101600" marT="63500" marB="635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Crypto Benchmark ETF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Speculative Beta</a:t>
                      </a:r>
                    </a:p>
                  </a:txBody>
                  <a:tcPr marL="101600" marR="101600" marT="63500" marB="635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394960"/>
            <a:ext cx="10698480" cy="109728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00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4406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CD535"/>
                </a:solidFill>
                <a:latin typeface="Calibri"/>
              </a:defRPr>
            </a:pPr>
            <a:r>
              <a:t>Each asset is modeled with 6 financial parameters: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00D26A"/>
                </a:solidFill>
                <a:latin typeface="Calibri"/>
              </a:defRPr>
            </a:pPr>
            <a:r>
              <a:t>beta  •  debt_ratio  •  cash_resilience  •  dividend_yield  •  inflation_sensitivity  •  interest_rate_sensitivity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These parameters drive the deterministic pricing engine — not random numbers, not LLM guesses.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CD535"/>
                </a:solidFill>
                <a:latin typeface="Calibri"/>
              </a:defRPr>
            </a:pPr>
            <a:r>
              <a:t>REASONING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Neuro-Symbolic?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Focus: why this combination — not what RAG/LLM/KG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~1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566160" cy="329184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FF4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1645920" cy="292608"/>
          </a:xfrm>
          <a:prstGeom prst="roundRect">
            <a:avLst/>
          </a:prstGeom>
          <a:solidFill>
            <a:srgbClr val="FF4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1222"/>
                </a:solidFill>
                <a:latin typeface="Calibri"/>
              </a:defRPr>
            </a:pPr>
            <a:r>
              <a:t>Insufficient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95F"/>
                </a:solidFill>
                <a:latin typeface="Calibri"/>
              </a:defRPr>
            </a:pPr>
            <a:r>
              <a:rPr dirty="0"/>
              <a:t>Pure Neural Networks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❌ Hallucinates prices</a:t>
            </a:r>
            <a:br>
              <a:rPr dirty="0"/>
            </a:br>
            <a:r>
              <a:rPr dirty="0"/>
              <a:t>❌ Brittle under unseen shocks</a:t>
            </a:r>
            <a:br>
              <a:rPr dirty="0"/>
            </a:br>
            <a:r>
              <a:rPr dirty="0"/>
              <a:t>❌ Inherently unexplainable</a:t>
            </a:r>
            <a:br>
              <a:rPr dirty="0"/>
            </a:br>
            <a:r>
              <a:rPr dirty="0"/>
              <a:t>❌ Violates regulatory trust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011680"/>
            <a:ext cx="3566160" cy="329184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FF4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80560" y="2103120"/>
            <a:ext cx="1645920" cy="292608"/>
          </a:xfrm>
          <a:prstGeom prst="roundRect">
            <a:avLst/>
          </a:prstGeom>
          <a:solidFill>
            <a:srgbClr val="FF4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1031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1222"/>
                </a:solidFill>
                <a:latin typeface="Calibri"/>
              </a:defRPr>
            </a:pPr>
            <a:r>
              <a:t>Insufficient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51460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95F"/>
                </a:solidFill>
                <a:latin typeface="Calibri"/>
              </a:defRPr>
            </a:pPr>
            <a:r>
              <a:t>Pure Symbolic Systems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❌ Rigid and inflexible</a:t>
            </a:r>
            <a:br/>
            <a:r>
              <a:t>❌ Cannot handle nuanced</a:t>
            </a:r>
            <a:br/>
            <a:r>
              <a:t>    natural language</a:t>
            </a:r>
            <a:br/>
            <a:r>
              <a:t>❌ Cannot adapt to novel</a:t>
            </a:r>
            <a:br/>
            <a:r>
              <a:t>    market contexts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011680"/>
            <a:ext cx="3566160" cy="329184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00D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75320" y="2103120"/>
            <a:ext cx="1645920" cy="292608"/>
          </a:xfrm>
          <a:prstGeom prst="roundRect">
            <a:avLst/>
          </a:prstGeom>
          <a:solidFill>
            <a:srgbClr val="00D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1222"/>
                </a:solidFill>
                <a:latin typeface="Calibri"/>
              </a:defRPr>
            </a:pPr>
            <a:r>
              <a:t>Selected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1460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6A"/>
                </a:solidFill>
                <a:latin typeface="Calibri"/>
              </a:defRPr>
            </a:pPr>
            <a:r>
              <a:rPr dirty="0"/>
              <a:t>Neuro-Symbolic (Ours)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✅ Deterministic engine</a:t>
            </a:r>
            <a:br>
              <a:rPr dirty="0"/>
            </a:br>
            <a:r>
              <a:rPr dirty="0"/>
              <a:t>    guarantees price accuracy</a:t>
            </a:r>
            <a:br>
              <a:rPr dirty="0"/>
            </a:br>
            <a:r>
              <a:rPr dirty="0"/>
              <a:t>✅ LLM + KG provide auditable,</a:t>
            </a:r>
            <a:br>
              <a:rPr dirty="0"/>
            </a:br>
            <a:r>
              <a:rPr dirty="0"/>
              <a:t>    literature-cited explanations</a:t>
            </a:r>
            <a:br>
              <a:rPr dirty="0"/>
            </a:br>
            <a:r>
              <a:rPr dirty="0"/>
              <a:t>✅ Adapts to novel scenarios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77840"/>
            <a:ext cx="11064240" cy="9144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6235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CD535"/>
                </a:solidFill>
                <a:latin typeface="Calibri"/>
              </a:defRPr>
            </a:pPr>
            <a:r>
              <a:t>How the layers interact: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 RAG grounds LLM output in cited investor literature — eliminating hallucinated advice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 Knowledge graph provides explicit causal paths — the LLM narrates them, not invents them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4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95F"/>
                </a:solidFill>
                <a:latin typeface="Calibri"/>
              </a:defRPr>
            </a:pPr>
            <a:r>
              <a:t>SIMULATION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Dual-Event Mechanics — Two Learning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~1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94960" cy="384048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00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A3FF"/>
                </a:solidFill>
                <a:latin typeface="Calibri"/>
              </a:defRPr>
            </a:pPr>
            <a:r>
              <a:t>Seasonal / Forecastable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User sees event BEFORE market moves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Can rebalance proactively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FCD535"/>
                </a:solidFill>
                <a:latin typeface="Calibri"/>
              </a:defRPr>
            </a:pPr>
            <a:r>
              <a:t>Teaching: Planning &amp; anticipation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Market: Gradual, partially priced-in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999999"/>
                </a:solidFill>
                <a:latin typeface="Calibri"/>
              </a:defRPr>
            </a:pPr>
            <a:r>
              <a:t>Examples: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Monsoon drought forecast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Fiscal year-end tax-loss selling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Green infrastructure subsidy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94960" cy="384048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FF4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95F"/>
                </a:solidFill>
                <a:latin typeface="Calibri"/>
              </a:defRPr>
            </a:pPr>
            <a:r>
              <a:rPr dirty="0"/>
              <a:t>Sudden / Black Swan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User sees event AFTER market moved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rPr dirty="0"/>
              <a:t>Must react to damage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 algn="l"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FCD535"/>
                </a:solidFill>
                <a:latin typeface="Calibri"/>
              </a:defRPr>
            </a:pPr>
            <a:r>
              <a:rPr dirty="0"/>
              <a:t>Teaching: Discipline &amp; damage control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/>
              <a:t>Market: Sharp, volatile, panic-driven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999999"/>
                </a:solidFill>
                <a:latin typeface="Calibri"/>
              </a:defRPr>
            </a:pPr>
            <a:r>
              <a:rPr dirty="0"/>
              <a:t>Examples: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/>
              <a:t>Pandemic &amp; border closures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/>
              <a:t>Emergency 100bps rate hike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/>
              <a:t>Banking liquidity crisis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669280"/>
            <a:ext cx="11064240" cy="82296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57150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CD535"/>
                </a:solidFill>
                <a:latin typeface="Calibri"/>
              </a:defRPr>
            </a:pPr>
            <a:r>
              <a:t>22 Events Across 8 Categories: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Monetary Policy  •  Fiscal &amp; Trade  •  Geopolitical Conflict  •  Climate &amp; Seasonal  •  Financial Contagion  •  Pandemic  •  Regulatory  • 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6A"/>
                </a:solidFill>
                <a:latin typeface="Calibri"/>
              </a:defRPr>
            </a:pPr>
            <a: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&amp; Performance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~1.5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A3FF"/>
                </a:solidFill>
                <a:latin typeface="Calibri"/>
              </a:defRPr>
            </a:pPr>
            <a:r>
              <a:t>System Integrity Metrics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64008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marL="101600" marR="101600" marT="50800" marB="508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What It Measures</a:t>
                      </a:r>
                    </a:p>
                  </a:txBody>
                  <a:tcPr marL="101600" marR="101600" marT="50800" marB="508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marL="101600" marR="101600" marT="50800" marB="50800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Pricing Determinism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Same seed → identical output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100% reproducible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 Safety Bounds</a:t>
                      </a:r>
                    </a:p>
                  </a:txBody>
                  <a:tcPr marL="101600" marR="101600" marT="50800" marB="508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quarter drop &gt; -85%; prices ≥ $0.01</a:t>
                      </a:r>
                    </a:p>
                  </a:txBody>
                  <a:tcPr marL="101600" marR="101600" marT="50800" marB="508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Zero violations</a:t>
                      </a:r>
                    </a:p>
                  </a:txBody>
                  <a:tcPr marL="101600" marR="101600" marT="50800" marB="508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Cash Protection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Money market fund never declines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Guaranteed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Reasoning Faithfulness</a:t>
                      </a:r>
                    </a:p>
                  </a:txBody>
                  <a:tcPr marL="101600" marR="101600" marT="50800" marB="508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advisory → causal path + cited source</a:t>
                      </a:r>
                    </a:p>
                  </a:txBody>
                  <a:tcPr marL="101600" marR="101600" marT="50800" marB="508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100% audit trail</a:t>
                      </a:r>
                    </a:p>
                  </a:txBody>
                  <a:tcPr marL="101600" marR="101600" marT="50800" marB="508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Zero Hallucination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LLM never generates asset prices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Architectural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22376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CD535"/>
                </a:solidFill>
                <a:latin typeface="Calibri"/>
              </a:defRPr>
            </a:pPr>
            <a:r>
              <a:t>Portfolio Alpha Measurement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23760" y="1783080"/>
          <a:ext cx="4389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Benchmark</a:t>
                      </a:r>
                    </a:p>
                  </a:txBody>
                  <a:tcPr marL="101600" marR="101600" marT="50800" marB="508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Allocation</a:t>
                      </a:r>
                    </a:p>
                  </a:txBody>
                  <a:tcPr marL="101600" marR="101600" marT="50800" marB="50800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100% Equity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Full market exposure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Classic 60/40</a:t>
                      </a:r>
                    </a:p>
                  </a:txBody>
                  <a:tcPr marL="101600" marR="101600" marT="50800" marB="508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60% equity + 40% bonds</a:t>
                      </a:r>
                    </a:p>
                  </a:txBody>
                  <a:tcPr marL="101600" marR="101600" marT="50800" marB="508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Dalio All-Weather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30/40/15/7.5/7.5 risk parity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223760" y="35204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6A"/>
                </a:solidFill>
                <a:latin typeface="Calibri"/>
              </a:defRPr>
            </a:pPr>
            <a:r>
              <a:rPr dirty="0"/>
              <a:t>Alpha = User excess return vs. passive benchmarks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rPr dirty="0"/>
              <a:t>Answers: "Did your active decisions add or destroy value?"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95F"/>
                </a:solidFill>
                <a:latin typeface="Calibri"/>
              </a:defRPr>
            </a:pPr>
            <a:r>
              <a:t>Behavioral Learning Metrics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4937760"/>
          <a:ext cx="11064240" cy="170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marL="101600" marR="101600" marT="50800" marB="508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What It Reveals About the Learner</a:t>
                      </a:r>
                    </a:p>
                  </a:txBody>
                  <a:tcPr marL="101600" marR="101600" marT="50800" marB="50800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Cumulative Tax Drag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(STCG 25% vs LTCG 10%)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Measures holding discipline — are they learning to hold for LTCG discount, or panic-selling at STCG rates?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Trade Frequency / Churn Rate</a:t>
                      </a:r>
                    </a:p>
                  </a:txBody>
                  <a:tcPr marL="101600" marR="101600" marT="50800" marB="508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Detects over-trading behavior — declining churn indicates improved portfolio discipline and friction awareness</a:t>
                      </a:r>
                    </a:p>
                  </a:txBody>
                  <a:tcPr marL="101600" marR="101600" marT="50800" marB="508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Drawdown Recovery Time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Portfolio resilience under stress — faster recovery = better asset allocation and rebalancing instincts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Application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rPr dirty="0"/>
              <a:t>Interactive </a:t>
            </a:r>
            <a:r>
              <a:rPr dirty="0" err="1"/>
              <a:t>Streamlit</a:t>
            </a:r>
            <a:r>
              <a:rPr dirty="0"/>
              <a:t> dashboard — live demo or screenshots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~1.5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3566160" cy="438912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00D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3566160" cy="457200"/>
          </a:xfrm>
          <a:prstGeom prst="roundRect">
            <a:avLst/>
          </a:prstGeom>
          <a:solidFill>
            <a:srgbClr val="00D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9385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21222"/>
                </a:solidFill>
                <a:latin typeface="Calibri"/>
              </a:defRPr>
            </a:pPr>
            <a:r>
              <a:t>1. Dashboard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/>
              <a:t>Top HUD: Quarter, NAV, Cash,</a:t>
            </a:r>
            <a:br>
              <a:rPr dirty="0"/>
            </a:br>
            <a:r>
              <a:rPr dirty="0"/>
              <a:t>Alpha vs Benchmarks, Friction Paid</a:t>
            </a:r>
            <a:br>
              <a:rPr dirty="0"/>
            </a:br>
            <a:br>
              <a:rPr dirty="0"/>
            </a:br>
            <a:r>
              <a:rPr dirty="0"/>
              <a:t>Performance chart: User portfolio</a:t>
            </a:r>
            <a:br>
              <a:rPr dirty="0"/>
            </a:br>
            <a:r>
              <a:rPr dirty="0"/>
              <a:t>vs. 3 passive benchmarks</a:t>
            </a:r>
            <a:br>
              <a:rPr dirty="0"/>
            </a:br>
            <a:br>
              <a:rPr dirty="0"/>
            </a:br>
            <a:r>
              <a:rPr dirty="0"/>
              <a:t>Holdings table with P&amp;L, allocation</a:t>
            </a:r>
            <a:br>
              <a:rPr dirty="0"/>
            </a:br>
            <a:r>
              <a:rPr dirty="0"/>
              <a:t>weights, and tax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20240"/>
            <a:ext cx="3566160" cy="438912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FF4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43400" y="1920240"/>
            <a:ext cx="3566160" cy="457200"/>
          </a:xfrm>
          <a:prstGeom prst="roundRect">
            <a:avLst/>
          </a:prstGeom>
          <a:solidFill>
            <a:srgbClr val="FF4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9385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21222"/>
                </a:solidFill>
                <a:latin typeface="Calibri"/>
              </a:defRPr>
            </a:pPr>
            <a:r>
              <a:t>2. Market Event Drawn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4688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/>
              <a:t>Event card with:</a:t>
            </a:r>
            <a:br>
              <a:rPr dirty="0"/>
            </a:br>
            <a:r>
              <a:rPr dirty="0"/>
              <a:t>•  Headline &amp; context</a:t>
            </a:r>
            <a:br>
              <a:rPr dirty="0"/>
            </a:br>
            <a:r>
              <a:rPr dirty="0"/>
              <a:t>•  Historical precedent</a:t>
            </a:r>
            <a:br>
              <a:rPr dirty="0"/>
            </a:br>
            <a:r>
              <a:rPr dirty="0"/>
              <a:t>•  Investor wisdom quote</a:t>
            </a:r>
            <a:br>
              <a:rPr dirty="0"/>
            </a:br>
            <a:br>
              <a:rPr dirty="0"/>
            </a:br>
            <a:r>
              <a:rPr dirty="0"/>
              <a:t>Badge: Growth / Seasonal / Shock</a:t>
            </a:r>
            <a:br>
              <a:rPr dirty="0"/>
            </a:br>
            <a:br>
              <a:rPr dirty="0"/>
            </a:br>
            <a:r>
              <a:rPr dirty="0"/>
              <a:t>Planning window for seasonal events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920240"/>
            <a:ext cx="3566160" cy="438912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38160" y="1920240"/>
            <a:ext cx="3566160" cy="457200"/>
          </a:xfrm>
          <a:prstGeom prst="round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19385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21222"/>
                </a:solidFill>
                <a:latin typeface="Calibri"/>
              </a:defRPr>
            </a:pPr>
            <a:r>
              <a:t>3. Trading &amp; Friction Preview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688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Buy/Sell order desk with:</a:t>
            </a:r>
            <a:br/>
            <a:r>
              <a:t>•  Live friction cost preview</a:t>
            </a:r>
            <a:br/>
            <a:r>
              <a:t>•  STCG/LTCG tax calculation</a:t>
            </a:r>
            <a:br/>
            <a:r>
              <a:t>•  Brokerage fee breakdown</a:t>
            </a:r>
            <a:br/>
            <a:br/>
            <a:r>
              <a:t>Mentor tip: "Hold 2 more quarters</a:t>
            </a:r>
            <a:br/>
            <a:r>
              <a:t>for LTCG discount, saving S$480"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4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95F"/>
                </a:solidFill>
                <a:latin typeface="Calibri"/>
              </a:defRPr>
            </a:pPr>
            <a:r>
              <a:t>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Technical Challenges &amp;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~30 sec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80474"/>
              </p:ext>
            </p:extLst>
          </p:nvPr>
        </p:nvGraphicFramePr>
        <p:xfrm>
          <a:off x="548640" y="1645920"/>
          <a:ext cx="11064240" cy="412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Challenge</a:t>
                      </a:r>
                    </a:p>
                  </a:txBody>
                  <a:tcPr marL="101600" marR="101600" marT="50800" marB="508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CD535"/>
                          </a:solidFill>
                          <a:latin typeface="Calibri"/>
                        </a:defRPr>
                      </a:pPr>
                      <a:r>
                        <a:t>Mitigation Strategy</a:t>
                      </a:r>
                    </a:p>
                  </a:txBody>
                  <a:tcPr marL="101600" marR="101600" marT="50800" marB="50800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LLM Price Hallucination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endParaRPr/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Risk: AI generates incorrect prices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Architecturally decoupled — LLM has zero access to pricing computation.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Deterministic engine handles all math. Mathematical correctness guaranteed by design.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Black-Box Skepticism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endParaRPr/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Risk: Users don't trust AI advice</a:t>
                      </a:r>
                    </a:p>
                  </a:txBody>
                  <a:tcPr marL="101600" marR="101600" marT="50800" marB="508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Every advisory is paired with: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•  A visual causal graph path tracing shock propagation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•  A specific cited literature source (Graham, Dalio, etc.)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100% audit trail from event → explanation.</a:t>
                      </a:r>
                    </a:p>
                  </a:txBody>
                  <a:tcPr marL="101600" marR="101600" marT="50800" marB="508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Offline Compute Overhead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endParaRPr/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Risk: Local LLM requires GPU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Lightweight quantized models (8B parameters). Runs on consumer hardware</a:t>
                      </a:r>
                      <a:r>
                        <a:rPr lang="en-SG" dirty="0"/>
                        <a:t> on installation</a:t>
                      </a:r>
                      <a:r>
                        <a:rPr dirty="0"/>
                        <a:t>.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Zero recurring API costs. Optional cloud deployment for broader access.</a:t>
                      </a:r>
                    </a:p>
                  </a:txBody>
                  <a:tcPr marL="101600" marR="101600" marT="50800" marB="50800" anchor="ctr">
                    <a:solidFill>
                      <a:srgbClr val="14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 Repetitiveness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endParaRPr/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Risk: Simulator feels stale</a:t>
                      </a:r>
                    </a:p>
                  </a:txBody>
                  <a:tcPr marL="101600" marR="101600" marT="50800" marB="50800" anchor="ctr"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22 events with stochastic noise bounds for replay variety.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Configurable market archetypes (US, Emerging, Commodity Exporter).</a:t>
                      </a:r>
                    </a:p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Campaign mode with multi-quarter narrative story arcs</a:t>
                      </a:r>
                      <a:r>
                        <a:rPr lang="en-SG" dirty="0"/>
                        <a:t> or memory persistence</a:t>
                      </a:r>
                      <a:r>
                        <a:rPr dirty="0"/>
                        <a:t>.</a:t>
                      </a:r>
                    </a:p>
                  </a:txBody>
                  <a:tcPr marL="101600" marR="101600" marT="50800" marB="50800" anchor="ctr">
                    <a:solidFill>
                      <a:srgbClr val="1A1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6A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Value Proposition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~30 sec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148840" cy="18288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D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6A"/>
                </a:solidFill>
                <a:latin typeface="Calibri"/>
              </a:defRPr>
            </a:pPr>
            <a:r>
              <a:t>Safe Crisis</a:t>
            </a:r>
            <a:br/>
            <a:r>
              <a:t>Experience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Navigate crises without</a:t>
            </a:r>
            <a:br/>
            <a:r>
              <a:t>risking real capital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554480"/>
            <a:ext cx="2148840" cy="18288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98648" y="16459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A3FF"/>
                </a:solidFill>
                <a:latin typeface="Calibri"/>
              </a:defRPr>
            </a:pPr>
            <a:r>
              <a:t>Transparent</a:t>
            </a:r>
            <a:br/>
            <a:r>
              <a:t>Reasoning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Every move traceable</a:t>
            </a:r>
            <a:br/>
            <a:r>
              <a:t>through causal chains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554480"/>
            <a:ext cx="2148840" cy="18288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30368" y="16459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CD535"/>
                </a:solidFill>
                <a:latin typeface="Calibri"/>
              </a:defRPr>
            </a:pPr>
            <a:r>
              <a:t>Literature-Grounded</a:t>
            </a:r>
            <a:br/>
            <a:r>
              <a:t>Wisdom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Cited sources, not</a:t>
            </a:r>
            <a:br/>
            <a:r>
              <a:t>model opinions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59" y="1554480"/>
            <a:ext cx="2148840" cy="18288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62087" y="16459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A3FF"/>
                </a:solidFill>
                <a:latin typeface="Calibri"/>
              </a:defRPr>
            </a:pPr>
            <a:r>
              <a:rPr dirty="0"/>
              <a:t>Real-World</a:t>
            </a:r>
            <a:br>
              <a:rPr dirty="0"/>
            </a:br>
            <a:r>
              <a:rPr dirty="0"/>
              <a:t>Skill Transfer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dirty="0"/>
              <a:t>Friction &amp; terminology</a:t>
            </a:r>
            <a:br>
              <a:rPr dirty="0"/>
            </a:br>
            <a:r>
              <a:rPr dirty="0"/>
              <a:t>mirror real brokerages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1554480"/>
            <a:ext cx="2148840" cy="18288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D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93808" y="16459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6A"/>
                </a:solidFill>
                <a:latin typeface="Calibri"/>
              </a:defRPr>
            </a:pPr>
            <a:r>
              <a:rPr dirty="0"/>
              <a:t>Privacy-</a:t>
            </a:r>
            <a:br>
              <a:rPr dirty="0"/>
            </a:br>
            <a:r>
              <a:rPr dirty="0"/>
              <a:t>Preserving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dirty="0"/>
              <a:t>Fully offline local LLM;</a:t>
            </a:r>
            <a:br>
              <a:rPr dirty="0"/>
            </a:br>
            <a:r>
              <a:rPr dirty="0"/>
              <a:t>no data leaves machine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57600"/>
            <a:ext cx="11247120" cy="137160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CD535"/>
                </a:solidFill>
                <a:latin typeface="Calibri"/>
              </a:defRPr>
            </a:pPr>
            <a:r>
              <a:rPr dirty="0"/>
              <a:t>Planned Extensions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/>
              <a:t>Regional market archetypes — US, Emerging (monsoon-sensitive), Commodity Exporter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/>
              <a:t>Campaign mode — multi-quarter story arcs (e.g., "The Great Inflation Arc")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/>
              <a:t>Cloud deployment — Docker + AWS EC2 for broader educational access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5303520"/>
            <a:ext cx="9418320" cy="100584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5349240"/>
            <a:ext cx="905256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MarketSense is a flight simulator for investors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FCD535"/>
                </a:solidFill>
                <a:latin typeface="Calibri"/>
              </a:defRPr>
            </a:pPr>
            <a:r>
              <a:rPr dirty="0"/>
              <a:t>where you crash safely, learn from causal explanations,</a:t>
            </a:r>
            <a:br>
              <a:rPr dirty="0"/>
            </a:br>
            <a:r>
              <a:rPr dirty="0"/>
              <a:t>and build muscle memory that transfers to real markets.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63093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Thank You  —  Questions?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1622</Words>
  <Application>Microsoft Office PowerPoint</Application>
  <PresentationFormat>Widescreen</PresentationFormat>
  <Paragraphs>291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Gupta Swaraj</cp:lastModifiedBy>
  <cp:revision>7</cp:revision>
  <dcterms:created xsi:type="dcterms:W3CDTF">2013-01-27T09:14:16Z</dcterms:created>
  <dcterms:modified xsi:type="dcterms:W3CDTF">2026-09-29T02:32:03Z</dcterms:modified>
  <cp:category/>
</cp:coreProperties>
</file>