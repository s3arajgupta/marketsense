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6A"/>
                </a:solidFill>
                <a:latin typeface="Calibri"/>
              </a:defRPr>
            </a:pPr>
            <a:r>
              <a:t>MarketSense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A Neuro-Symbolic Intelligent Reasoning Simulator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for Macroeconomic Shocks &amp; Portfolio Adaptability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CD535"/>
                </a:solidFill>
                <a:latin typeface="Calibri"/>
              </a:defRPr>
            </a:pPr>
            <a:r>
              <a:t>"Bridging theoretical investment wisdom and real-world market turbulence</a:t>
            </a:r>
            <a:br/>
            <a:r>
              <a:t>through explainable AI"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03920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/>
              <a:t>NUS-ISS Intelligent Reasoning Systems (IRS) Practice Module</a:t>
            </a:r>
          </a:p>
          <a:p>
            <a:pPr algn="ctr">
              <a:spcBef>
                <a:spcPts val="16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/>
              <a:t>Student: </a:t>
            </a:r>
            <a:r>
              <a:rPr lang="en-SG" dirty="0"/>
              <a:t>Gupta Swaraj</a:t>
            </a:r>
            <a:r>
              <a:rPr dirty="0"/>
              <a:t>  |  Student ID: </a:t>
            </a:r>
            <a:r>
              <a:rPr lang="en-SG" sz="1400" dirty="0">
                <a:solidFill>
                  <a:srgbClr val="999999"/>
                </a:solidFill>
                <a:latin typeface="Calibri"/>
              </a:rPr>
              <a:t>A0357457N</a:t>
            </a:r>
            <a:endParaRPr dirty="0"/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/>
              <a:t>Date: </a:t>
            </a:r>
            <a:r>
              <a:rPr lang="en-SG" dirty="0"/>
              <a:t>13/09/2026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95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Does This Project Exist?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95F"/>
                </a:solidFill>
                <a:latin typeface="Calibri"/>
              </a:defRPr>
            </a:pPr>
            <a:r>
              <a:t>The Retail Investor Crisis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80%+ of retail investors suffer severe drawdowns during macro crises — rate spikes, inflation, pandemics, policy shocks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Root cause: behavioral bias and opaque market mechanics that learners never get to safely experience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Trading platforms "gamify" hyper-trading → destructive fee/tax churning and unhedged losses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1600"/>
              </a:spcBef>
              <a:spcAft>
                <a:spcPts val="200"/>
              </a:spcAft>
              <a:defRPr sz="2000" b="1">
                <a:solidFill>
                  <a:srgbClr val="FF495F"/>
                </a:solidFill>
                <a:latin typeface="Calibri"/>
              </a:defRPr>
            </a:pPr>
            <a:r>
              <a:t>The Two Broken Camps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Black-box predictive models — no explainability, no trust, no learning transfer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Static textbook rules — cannot adapt to novel, real-time events or market contexts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CD535"/>
                </a:solidFill>
                <a:latin typeface="Calibri"/>
              </a:defRPr>
            </a:pPr>
            <a:r>
              <a:t>The Core Gap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spcBef>
                <a:spcPts val="16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Learners cannot safely experience crisis dynamics.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spcBef>
                <a:spcPts val="12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No existing tool pairs: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600" b="0">
                <a:solidFill>
                  <a:srgbClr val="00D26A"/>
                </a:solidFill>
                <a:latin typeface="Calibri"/>
              </a:defRPr>
            </a:pPr>
            <a:r>
              <a:t>✦  Realistic market dynamics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00A3FF"/>
                </a:solidFill>
                <a:latin typeface="Calibri"/>
              </a:defRPr>
            </a:pPr>
            <a:r>
              <a:t>✦  Transparent causal reasoning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FCD535"/>
                </a:solidFill>
                <a:latin typeface="Calibri"/>
              </a:defRPr>
            </a:pPr>
            <a:r>
              <a:t>✦  Literature-grounded mentorship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in a safe training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FF"/>
                </a:solidFill>
                <a:latin typeface="Calibri"/>
              </a:defRPr>
            </a:pPr>
            <a: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Existing Solutions &amp; Their Limitations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Existing Solution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Critical Limitation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Paper-Trading Platforms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(e.g., Investopedia Simulator)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Static price mirrors; zero causal reasoning or contextual explanation of why markets moved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Commercial Robo-Advisors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(e.g., Wealthfront, Endowus)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Opaque black boxes; no pedagogical transparency, no scenario modeling, no learning transfer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University Finance Courses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Purely theoretical; no hands-on crisis simulation or real-time decision-making under pressure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Trading Apps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(e.g., Robinhood, Tiger Brokers)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Encourage excessive churning through gamification; no friction awareness or tax discipline training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852160"/>
            <a:ext cx="10698480" cy="64008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6A"/>
                </a:solidFill>
                <a:latin typeface="Calibri"/>
              </a:defRPr>
            </a:pPr>
            <a:r>
              <a:t>💡 Opportunity: A hybrid reasoning engine pairing deterministic market dynamics with causal explanation and literature-grounded mentorship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6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MarketSense — An Investment Flight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 training simulator with realistic mechanics and explainable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A3FF"/>
                </a:solidFill>
                <a:latin typeface="Calibri"/>
              </a:defRPr>
            </a:pPr>
            <a:r>
              <a:t>📊  Multi-Asset Portfolio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Equities, bonds, gold, cash,</a:t>
            </a:r>
            <a:br/>
            <a:r>
              <a:t>crypto — 24 instruments across</a:t>
            </a:r>
            <a:br/>
            <a:r>
              <a:t>6 sectors and 3 cap sizes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347472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95F"/>
                </a:solidFill>
                <a:latin typeface="Calibri"/>
              </a:defRPr>
            </a:pPr>
            <a:r>
              <a:t>🌍  Macro Event Engine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Rate hikes, pandemics, tariffs,</a:t>
            </a:r>
            <a:br/>
            <a:r>
              <a:t>climate shocks — 22 curated</a:t>
            </a:r>
            <a:br/>
            <a:r>
              <a:t>scenarios hit the 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47472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0574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6A"/>
                </a:solidFill>
                <a:latin typeface="Calibri"/>
              </a:defRPr>
            </a:pPr>
            <a:r>
              <a:rPr dirty="0"/>
              <a:t>⚙️  Deterministic Pricing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Prices computed by mathematical</a:t>
            </a:r>
            <a:br>
              <a:rPr dirty="0"/>
            </a:br>
            <a:r>
              <a:rPr dirty="0"/>
              <a:t>formulas (Beta × Debt × Cash).</a:t>
            </a:r>
            <a:br>
              <a:rPr dirty="0"/>
            </a:br>
            <a:r>
              <a:rPr dirty="0"/>
              <a:t>No LLM price hallucination.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347472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CD535"/>
                </a:solidFill>
                <a:latin typeface="Calibri"/>
              </a:defRPr>
            </a:pPr>
            <a:r>
              <a:t>🤖  AI Mentor (RAG)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Explains why prices moved,</a:t>
            </a:r>
            <a:br/>
            <a:r>
              <a:t>grounded in Graham, Dalio,</a:t>
            </a:r>
            <a:br/>
            <a:r>
              <a:t>Marks — with cited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251960"/>
            <a:ext cx="347472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A3FF"/>
                </a:solidFill>
                <a:latin typeface="Calibri"/>
              </a:defRPr>
            </a:pPr>
            <a:r>
              <a:rPr dirty="0"/>
              <a:t>🔗  Causal Knowledge Graph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Visual shock propagation:</a:t>
            </a:r>
            <a:br>
              <a:rPr dirty="0"/>
            </a:br>
            <a:r>
              <a:rPr dirty="0"/>
              <a:t>Rate Hike → Borrowing Cost ↑</a:t>
            </a:r>
            <a:br>
              <a:rPr dirty="0"/>
            </a:br>
            <a:r>
              <a:rPr dirty="0"/>
              <a:t>→ IT P/E Compression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251960"/>
            <a:ext cx="347472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95F"/>
                </a:solidFill>
                <a:latin typeface="Calibri"/>
              </a:defRPr>
            </a:pPr>
            <a:r>
              <a:rPr dirty="0"/>
              <a:t>💰  Real-World Friction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Capital gains taxes, brokerage</a:t>
            </a:r>
            <a:br>
              <a:rPr dirty="0"/>
            </a:br>
            <a:r>
              <a:rPr dirty="0"/>
              <a:t>fees, holding period discipline</a:t>
            </a:r>
            <a:br>
              <a:rPr dirty="0"/>
            </a:br>
            <a:r>
              <a:rPr dirty="0"/>
              <a:t>— realistic consequences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CD535"/>
                </a:solidFill>
                <a:latin typeface="Calibri"/>
              </a:defRPr>
            </a:pPr>
            <a:r>
              <a:t>REASONING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Neuro-Symbolic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Why neither pure neural networks nor pure rule-based systems are sufficient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74720" cy="34747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828800" cy="320040"/>
          </a:xfrm>
          <a:prstGeom prst="roundRect">
            <a:avLst/>
          </a:prstGeom>
          <a:solidFill>
            <a:srgbClr val="FF4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22"/>
                </a:solidFill>
                <a:latin typeface="Calibri"/>
              </a:defRPr>
            </a:pPr>
            <a:r>
              <a:t>Insufficient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95F"/>
                </a:solidFill>
                <a:latin typeface="Calibri"/>
              </a:defRPr>
            </a:pPr>
            <a:r>
              <a:t>Pure Neural Networks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❌ Hallucinate prices</a:t>
            </a:r>
            <a:br/>
            <a:r>
              <a:t>❌ Brittle under unseen shocks</a:t>
            </a:r>
            <a:br/>
            <a:r>
              <a:t>❌ Inherently unexplainable</a:t>
            </a:r>
            <a:br/>
            <a:r>
              <a:t>❌ Violate regulatory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474720" cy="34747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1828800" cy="320040"/>
          </a:xfrm>
          <a:prstGeom prst="roundRect">
            <a:avLst/>
          </a:prstGeom>
          <a:solidFill>
            <a:srgbClr val="FF4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22"/>
                </a:solidFill>
                <a:latin typeface="Calibri"/>
              </a:defRPr>
            </a:pPr>
            <a:r>
              <a:t>Insufficient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95F"/>
                </a:solidFill>
                <a:latin typeface="Calibri"/>
              </a:defRPr>
            </a:pPr>
            <a:r>
              <a:t>Pure Rule-Based Systems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❌ Rigid and inflexible</a:t>
            </a:r>
            <a:br/>
            <a:r>
              <a:t>❌ Cannot handle nuanced</a:t>
            </a:r>
            <a:br/>
            <a:r>
              <a:t>    natural language</a:t>
            </a:r>
            <a:br/>
            <a:r>
              <a:t>❌ Cannot adapt to novel</a:t>
            </a:r>
            <a:br/>
            <a:r>
              <a:t>    market contexts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3474720" cy="34747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2240280"/>
            <a:ext cx="1828800" cy="320040"/>
          </a:xfrm>
          <a:prstGeom prst="round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22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51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6A"/>
                </a:solidFill>
                <a:latin typeface="Calibri"/>
              </a:defRPr>
            </a:pPr>
            <a:r>
              <a:t>Neuro-Symbolic (Ours)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✅ Deterministic formulas</a:t>
            </a:r>
            <a:br/>
            <a:r>
              <a:t>    guarantee numerical accuracy</a:t>
            </a:r>
            <a:br/>
            <a:r>
              <a:t>✅ LLM + KG provide auditable,</a:t>
            </a:r>
            <a:br/>
            <a:r>
              <a:t>    cited natural language</a:t>
            </a:r>
            <a:br/>
            <a:r>
              <a:t>    explanations</a:t>
            </a:r>
            <a:br/>
            <a:r>
              <a:t>✅ Best of both worlds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CD535"/>
                </a:solidFill>
                <a:latin typeface="Calibri"/>
              </a:defRPr>
            </a:pPr>
            <a:r>
              <a:t>⚡ Key Design Principle: The LLM never generates prices. Mathematics handles numbers; AI handles narrative reasoning and explanation.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FF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Asset Universe — 24 Instruments Across 5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3FF"/>
                </a:solidFill>
                <a:latin typeface="Calibri"/>
              </a:defRPr>
            </a:pPr>
            <a:r>
              <a:t>18 Equity Indices (6 Sectors × 3 Cap Sizes)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Sector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Large Cap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Mid Cap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Small Cap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Information Technology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 Giants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Software &amp; Cloud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&amp; Hardware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FMCG &amp; Consumer Staples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Blue Chip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Packaged Goods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Organic &amp; Agri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Banking &amp; Financial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Tier-1 Banks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Regional Banks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FinTech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Healthcare &amp; Pharma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Global Pharma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Hospital Networks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Clinical Biotech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Energy &amp; Utilities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Integrated Oil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Renewables &amp; Grid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CleanTech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 Estate &amp; Infra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Commercial REITs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Residential Dev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554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D535"/>
                </a:solidFill>
                <a:latin typeface="Calibri"/>
              </a:defRPr>
            </a:pPr>
            <a:r>
              <a:t>6 Non-Equity Assets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46720" y="1920240"/>
          <a:ext cx="3657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Nature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Gold Trust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Safe Haven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Silver &amp; Industrial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Metal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1-3Y Sovereign T-Bills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Equivalent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10-20Y Gov Bonds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Deflation Hedge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SGD Money Market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Risk-Free Cash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Crypto Benchmark ETF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Speculative Beta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394960"/>
            <a:ext cx="10698480" cy="10972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D535"/>
                </a:solidFill>
                <a:latin typeface="Calibri"/>
              </a:defRPr>
            </a:pPr>
            <a:r>
              <a:t>Each asset is modeled with 6 financial parameters: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00D26A"/>
                </a:solidFill>
                <a:latin typeface="Calibri"/>
              </a:defRPr>
            </a:pPr>
            <a:r>
              <a:t>beta  •  debt_ratio  •  cash_resilience  •  dividend_yield  •  inflation_sensitivity  •  interest_rate_sensitivity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These parameters drive the deterministic pricing engine — not random numbers, not LLM guesses.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95F"/>
                </a:solidFill>
                <a:latin typeface="Calibri"/>
              </a:defRPr>
            </a:pPr>
            <a:r>
              <a:t>EVENT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Dual-Event Mechanics — Two Learning Experiences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3FF"/>
                </a:solidFill>
                <a:latin typeface="Calibri"/>
              </a:defRPr>
            </a:pPr>
            <a:r>
              <a:t>📅  Seasonal / Forecastable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User sees event BEFORE market moves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Can rebalance proactively — buy gold before the storm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FCD535"/>
                </a:solidFill>
                <a:latin typeface="Calibri"/>
              </a:defRPr>
            </a:pPr>
            <a:r>
              <a:t>Teaching Moment: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Planning, anticipation, and preparation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Market moves gradually (partially priced-in)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999999"/>
                </a:solidFill>
                <a:latin typeface="Calibri"/>
              </a:defRPr>
            </a:pPr>
            <a:r>
              <a:t>AI Mentor says: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00A3FF"/>
                </a:solidFill>
                <a:latin typeface="Calibri"/>
              </a:defRPr>
            </a:pPr>
            <a:r>
              <a:t>"If you shift 20% into bonds now,</a:t>
            </a:r>
            <a:br/>
            <a:r>
              <a:t>here's what happens when the rate hike lands..."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95F"/>
                </a:solidFill>
                <a:latin typeface="Calibri"/>
              </a:defRPr>
            </a:pPr>
            <a:r>
              <a:t>💥  Sudden / Black Swan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User sees event AFTER market has already moved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Must react to damage — stop the bleeding, buy the dip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FCD535"/>
                </a:solidFill>
                <a:latin typeface="Calibri"/>
              </a:defRPr>
            </a:pPr>
            <a:r>
              <a:t>Teaching Moment: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Damage control, psychological discipline, recovery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Market moves sharply (panic selling, liquidity crunch)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999999"/>
                </a:solidFill>
                <a:latin typeface="Calibri"/>
              </a:defRPr>
            </a:pPr>
            <a:r>
              <a:t>AI Mentor says: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495F"/>
                </a:solidFill>
                <a:latin typeface="Calibri"/>
              </a:defRPr>
            </a:pPr>
            <a:r>
              <a:t>"Your portfolio just dropped 14%.</a:t>
            </a:r>
            <a:br/>
            <a:r>
              <a:t>Here's why, and here's how to stabilize..."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CD535"/>
                </a:solidFill>
                <a:latin typeface="Calibri"/>
              </a:defRPr>
            </a:pPr>
            <a: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100% Auditable Reasoning — Three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475488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A3FF"/>
                </a:solidFill>
                <a:latin typeface="Calibri"/>
              </a:defRPr>
            </a:pPr>
            <a:r>
              <a:t>🔗  Causal Knowledge Graph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250" b="0">
                <a:solidFill>
                  <a:srgbClr val="CCCCCC"/>
                </a:solidFill>
                <a:latin typeface="Calibri"/>
              </a:defRPr>
            </a:pPr>
            <a:r>
              <a:t>Every shock has an explicit propagation path through a directed graph of ~40 nodes and ~80 weighted edges.</a:t>
            </a:r>
            <a:br/>
            <a:br/>
            <a:r>
              <a:t>Example causal chain:</a:t>
            </a:r>
            <a:br/>
            <a:r>
              <a:t>Rate Hike → Borrowing Cost ↑ →</a:t>
            </a:r>
            <a:br/>
            <a:r>
              <a:t>Discount Rate ↑ → IT P/E Compression →</a:t>
            </a:r>
            <a:br/>
            <a:r>
              <a:t>Tech Stock ↓</a:t>
            </a:r>
            <a:br/>
            <a:br/>
            <a:r>
              <a:t>Visualized as an interactive graph with highlighted active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66160" cy="475488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874519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CD535"/>
                </a:solidFill>
                <a:latin typeface="Calibri"/>
              </a:defRPr>
            </a:pPr>
            <a:r>
              <a:t>📚  Grounded RAG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250" b="0">
                <a:solidFill>
                  <a:srgbClr val="CCCCCC"/>
                </a:solidFill>
                <a:latin typeface="Calibri"/>
              </a:defRPr>
            </a:pPr>
            <a:r>
              <a:t>Retrieval-Augmented Generation from curated sources:</a:t>
            </a:r>
            <a:br/>
            <a:br/>
            <a:r>
              <a:t>• Benjamin Graham — Value investing</a:t>
            </a:r>
            <a:br/>
            <a:r>
              <a:t>• Ray Dalio — All-Weather, debt cycles</a:t>
            </a:r>
            <a:br/>
            <a:r>
              <a:t>• Howard Marks — Risk, market cycles</a:t>
            </a:r>
            <a:br/>
            <a:r>
              <a:t>• Peter Lynch — Growth investing</a:t>
            </a:r>
            <a:br/>
            <a:r>
              <a:t>• Historical crises (1973, 2008, 2020)</a:t>
            </a:r>
            <a:br/>
            <a:br/>
            <a:r>
              <a:t>Every advisory links to a cited source — no hallucinated opinions.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566160" cy="475488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6A"/>
                </a:solidFill>
                <a:latin typeface="Calibri"/>
              </a:defRPr>
            </a:pPr>
            <a:r>
              <a:t>🔄  Counterfactual Engine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250" b="0">
                <a:solidFill>
                  <a:srgbClr val="CCCCCC"/>
                </a:solidFill>
                <a:latin typeface="Calibri"/>
              </a:defRPr>
            </a:pPr>
            <a:r>
              <a:t>"What-if" analysis that simulates alternative choices:</a:t>
            </a:r>
            <a:br/>
            <a:br/>
            <a:r>
              <a:t>"What if you had allocated 20% more to Gold?"</a:t>
            </a:r>
            <a:br/>
            <a:r>
              <a:t>→ Shows the alternative NAV trajectory</a:t>
            </a:r>
            <a:br/>
            <a:r>
              <a:t>→ Quantifies the exact S$ difference</a:t>
            </a:r>
            <a:br/>
            <a:br/>
            <a:r>
              <a:t>Teaches through concrete comparisons, not abstract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6A"/>
                </a:solidFill>
                <a:latin typeface="Calibri"/>
              </a:defRPr>
            </a:pPr>
            <a:r>
              <a:t>FINANCIAL REALISM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Real-World Friction &amp; Behavioral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Teaching financial hygiene through realistic consequences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Friction Type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Pedagogical Value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STCG Tax (25%)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Applied on gains when asset held &lt; 1 year (4 quarters)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Teaches patience and holding discipline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LTCG Tax (10%)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Discounted rate for assets held ≥ 1 year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Rewards long-term commitment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Brokerage (0.15%)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Per-trade fee on every buy and sell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Discourages excessive portfolio churning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Interest (3.8% p.a.)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Idle cash earns money market interest quarterly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Makes cash productive, not wasteful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CD535"/>
                </a:solidFill>
                <a:latin typeface="Calibri"/>
              </a:defRPr>
            </a:pPr>
            <a:r>
              <a:t>Pre-Trade Friction Preview with AI Mentor Advice: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Before every trade, the system shows exact costs and provides pedagogical guidance: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00D26A"/>
                </a:solidFill>
                <a:latin typeface="Calibri"/>
              </a:defRPr>
            </a:pPr>
            <a:r>
              <a:t>💡 "Holding this asset for 2 more quarters qualifies you for the Long-Term Capital Gains discount</a:t>
            </a:r>
            <a:br/>
            <a:r>
              <a:t>     (tax drops from 25% to 10%), saving you S$480. Consider holding."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FF"/>
                </a:solidFill>
                <a:latin typeface="Calibri"/>
              </a:defRPr>
            </a:pPr>
            <a:r>
              <a:t>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Parallel Benchmark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User portfolio runs alongside 3 institutional passive strategies in real-time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Allocation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What It Teaches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Pure Equity Index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market exposure (avg of all equity returns)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Raw market risk vs. reward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Classic 60/40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60% Equity + 20% T-Bills + 20% Long Bonds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diversification benefit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Dalio All-Weather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(Risk Parity)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30% Equity + 40% Long Bonds + 15% T-Bills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+ 7.5% Gold + 7.5% Commodities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All-weather resilience across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economic regimes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6A"/>
                </a:solidFill>
                <a:latin typeface="Calibri"/>
              </a:defRPr>
            </a:pPr>
            <a:r>
              <a:t>Alpha Measurement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The user's excess return (or deficit) vs. each passive benchmark reveals whether their active decisions during crisis events added or destroyed value.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FCD535"/>
                </a:solidFill>
                <a:latin typeface="Calibri"/>
              </a:defRPr>
            </a:pPr>
            <a:r>
              <a:t>This directly answers the fundamental investing question: "Would I have been better off doing nothing?"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95F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Challenges &amp; Mitigations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Mitigation Strategy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Numerical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Hallucination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generates incorrect or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fantasy asset prices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is strictly prohibited from computing prices.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Isolated deterministic engine handles all math.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decoupling guarantees correctness.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Black-Box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Skepticism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Users don't trust AI-generated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investment advice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Every narrative is paired with a visual causal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path AND a specific literature citation.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audit trail from event → explanation.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Offline Deployment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&amp; Compute Overhead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 LLM requires GPU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 significant CPU resources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Lightweight quantized models (8B parameters).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Runs on consumer hardware. Zero recurring API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costs. Optional cloud deployment for demos.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Repetitiveness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Simulator feels stale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multiple sessions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22+ events with stochastic noise. Configurable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archetypes (US, Emerging, Commodity</a:t>
                      </a:r>
                    </a:p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Exporter). Campaign mode with story arcs.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6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103120" cy="237744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D26A"/>
                </a:solidFill>
                <a:latin typeface="Calibri"/>
              </a:defRPr>
            </a:pPr>
            <a:r>
              <a:t>Safe Crisis Experience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Navigate rate hikes, pandemics, and</a:t>
            </a:r>
            <a:br/>
            <a:r>
              <a:t>policy shocks without risking real capital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45920"/>
            <a:ext cx="2103120" cy="237744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737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A3FF"/>
                </a:solidFill>
                <a:latin typeface="Calibri"/>
              </a:defRPr>
            </a:pPr>
            <a:r>
              <a:t>Transparent Reasoning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Every market move is traceable through</a:t>
            </a:r>
            <a:br/>
            <a:r>
              <a:t>an explicit causal chain, not a black 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103120" cy="237744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737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FCD535"/>
                </a:solidFill>
                <a:latin typeface="Calibri"/>
              </a:defRPr>
            </a:pPr>
            <a:r>
              <a:t>Literature-Grounded Wisdom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Investment advice backed by Graham,</a:t>
            </a:r>
            <a:br/>
            <a:r>
              <a:t>Dalio, Marks — not model opinions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45920"/>
            <a:ext cx="2103120" cy="237744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737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🏦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A3FF"/>
                </a:solidFill>
                <a:latin typeface="Calibri"/>
              </a:defRPr>
            </a:pPr>
            <a:r>
              <a:t>Real-World Skill Transfer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Dashboard, terminology, and friction</a:t>
            </a:r>
            <a:br/>
            <a:r>
              <a:t>mirror actual brokerage environments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645920"/>
            <a:ext cx="2103120" cy="237744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29800" y="1737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D26A"/>
                </a:solidFill>
                <a:latin typeface="Calibri"/>
              </a:defRPr>
            </a:pPr>
            <a:r>
              <a:t>Privacy-Preserving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Fully offline local LLM; no data</a:t>
            </a:r>
            <a:br/>
            <a:r>
              <a:t>leaves the user's machine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389120"/>
            <a:ext cx="9418320" cy="128016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4480560"/>
            <a:ext cx="9052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MarketSense is a flight simulator for investors —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FCD535"/>
                </a:solidFill>
                <a:latin typeface="Calibri"/>
              </a:defRPr>
            </a:pPr>
            <a:r>
              <a:t>where you crash safely, learn from causal explanations,</a:t>
            </a:r>
            <a:br/>
            <a:r>
              <a:t>and build muscle memory that transfers to real markets.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Literature Foundations: Benjamin Graham • Ray Dalio • Howard Marks • Peter Lynch • John Bogle • Nassim Taleb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NUS-ISS Intelligent Reasoning Systems (IRS) Practice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1670</Words>
  <Application>Microsoft Office PowerPoint</Application>
  <PresentationFormat>Widescreen</PresentationFormat>
  <Paragraphs>259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Gupta Swaraj</cp:lastModifiedBy>
  <cp:revision>4</cp:revision>
  <dcterms:created xsi:type="dcterms:W3CDTF">2013-01-27T09:14:16Z</dcterms:created>
  <dcterms:modified xsi:type="dcterms:W3CDTF">2026-10-03T15:47:20Z</dcterms:modified>
  <cp:category/>
</cp:coreProperties>
</file>